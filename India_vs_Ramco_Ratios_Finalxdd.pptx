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56" y="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Liquidity Ratios Comparison (2023–2025)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3092049838480065E-2"/>
          <c:y val="0.11367703896952881"/>
          <c:w val="0.94690795016151996"/>
          <c:h val="0.699998407224828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India – Current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1.21</c:v>
                </c:pt>
                <c:pt idx="1">
                  <c:v>1</c:v>
                </c:pt>
                <c:pt idx="2">
                  <c:v>1.37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8A-4E9D-A125-EAD7C47118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Ramco – Current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100000"/>
                    <a:shade val="100000"/>
                    <a:satMod val="130000"/>
                  </a:schemeClr>
                </a:gs>
                <a:gs pos="100000">
                  <a:schemeClr val="accent2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0.61</c:v>
                </c:pt>
                <c:pt idx="1">
                  <c:v>0.56999999999999995</c:v>
                </c:pt>
                <c:pt idx="2">
                  <c:v>0.52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F8A-4E9D-A125-EAD7C47118C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India – Quick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100000"/>
                    <a:shade val="100000"/>
                    <a:satMod val="130000"/>
                  </a:schemeClr>
                </a:gs>
                <a:gs pos="100000">
                  <a:schemeClr val="accent3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0.94</c:v>
                </c:pt>
                <c:pt idx="1">
                  <c:v>0.77</c:v>
                </c:pt>
                <c:pt idx="2">
                  <c:v>0.92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F8A-4E9D-A125-EAD7C47118C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Ramco – Quick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100000"/>
                    <a:shade val="100000"/>
                    <a:satMod val="130000"/>
                  </a:schemeClr>
                </a:gs>
                <a:gs pos="100000">
                  <a:schemeClr val="accent4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0.32</c:v>
                </c:pt>
                <c:pt idx="1">
                  <c:v>0.32</c:v>
                </c:pt>
                <c:pt idx="2">
                  <c:v>0.28000000000000003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F8A-4E9D-A125-EAD7C47118C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India – Cash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tint val="100000"/>
                    <a:shade val="100000"/>
                    <a:satMod val="130000"/>
                  </a:schemeClr>
                </a:gs>
                <a:gs pos="100000">
                  <a:schemeClr val="accent5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0.02</c:v>
                </c:pt>
                <c:pt idx="1">
                  <c:v>0.03</c:v>
                </c:pt>
                <c:pt idx="2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F8A-4E9D-A125-EAD7C47118C0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Ramco – Cash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tint val="100000"/>
                    <a:shade val="100000"/>
                    <a:satMod val="13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Sheet1!$G$2:$G$4</c:f>
              <c:numCache>
                <c:formatCode>General</c:formatCode>
                <c:ptCount val="3"/>
                <c:pt idx="0">
                  <c:v>0.05</c:v>
                </c:pt>
                <c:pt idx="1">
                  <c:v>0.03</c:v>
                </c:pt>
                <c:pt idx="2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F8A-4E9D-A125-EAD7C47118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95313647"/>
        <c:axId val="95315567"/>
      </c:barChart>
      <c:catAx>
        <c:axId val="953136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315567"/>
        <c:crosses val="autoZero"/>
        <c:auto val="1"/>
        <c:lblAlgn val="ctr"/>
        <c:lblOffset val="100"/>
        <c:noMultiLvlLbl val="0"/>
      </c:catAx>
      <c:valAx>
        <c:axId val="953155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3136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Profitability Ratios Comparison (2023–2025)</a:t>
            </a:r>
          </a:p>
        </c:rich>
      </c:tx>
      <c:layout>
        <c:manualLayout>
          <c:xMode val="edge"/>
          <c:yMode val="edge"/>
          <c:x val="0.2432908039272868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India – NPM</c:v>
                </c:pt>
              </c:strCache>
            </c:strRef>
          </c:tx>
          <c:spPr>
            <a:ln w="22225" cap="rnd">
              <a:solidFill>
                <a:schemeClr val="accent1"/>
              </a:solidFill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cat>
            <c:numRef>
              <c:f>Sheet1!$A$2:$A$4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Sheet1!$B$2:$B$4</c:f>
              <c:numCache>
                <c:formatCode>0.00%</c:formatCode>
                <c:ptCount val="3"/>
                <c:pt idx="0">
                  <c:v>-3.2800000000000003E-2</c:v>
                </c:pt>
                <c:pt idx="1">
                  <c:v>-4.5100000000000001E-2</c:v>
                </c:pt>
                <c:pt idx="2">
                  <c:v>-3.2399999999999998E-2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8B7-483A-BF66-55F1A3959A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Ramco – NPM</c:v>
                </c:pt>
              </c:strCache>
            </c:strRef>
          </c:tx>
          <c:spPr>
            <a:ln w="22225" cap="rnd">
              <a:solidFill>
                <a:schemeClr val="accent2"/>
              </a:solidFill>
            </a:ln>
            <a:effectLst>
              <a:glow rad="139700">
                <a:schemeClr val="accent2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cat>
            <c:numRef>
              <c:f>Sheet1!$A$2:$A$4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Sheet1!$C$2:$C$4</c:f>
              <c:numCache>
                <c:formatCode>0.00%</c:formatCode>
                <c:ptCount val="3"/>
                <c:pt idx="0">
                  <c:v>4.24E-2</c:v>
                </c:pt>
                <c:pt idx="1">
                  <c:v>4.24E-2</c:v>
                </c:pt>
                <c:pt idx="2">
                  <c:v>4.9099999999999998E-2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8B7-483A-BF66-55F1A3959A0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India – ROE</c:v>
                </c:pt>
              </c:strCache>
            </c:strRef>
          </c:tx>
          <c:spPr>
            <a:ln w="22225" cap="rnd">
              <a:solidFill>
                <a:schemeClr val="accent3"/>
              </a:solidFill>
            </a:ln>
            <a:effectLst>
              <a:glow rad="139700">
                <a:schemeClr val="accent3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cat>
            <c:numRef>
              <c:f>Sheet1!$A$2:$A$4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Sheet1!$D$2:$D$4</c:f>
              <c:numCache>
                <c:formatCode>0.00%</c:formatCode>
                <c:ptCount val="3"/>
                <c:pt idx="0">
                  <c:v>-2.9399999999999999E-2</c:v>
                </c:pt>
                <c:pt idx="1">
                  <c:v>-3.8699999999999998E-2</c:v>
                </c:pt>
                <c:pt idx="2">
                  <c:v>-1.2999999999999999E-2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8B7-483A-BF66-55F1A3959A0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Ramco – ROE</c:v>
                </c:pt>
              </c:strCache>
            </c:strRef>
          </c:tx>
          <c:spPr>
            <a:ln w="22225" cap="rnd">
              <a:solidFill>
                <a:schemeClr val="accent4"/>
              </a:solidFill>
            </a:ln>
            <a:effectLst>
              <a:glow rad="139700">
                <a:schemeClr val="accent4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cat>
            <c:numRef>
              <c:f>Sheet1!$A$2:$A$4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Sheet1!$E$2:$E$4</c:f>
              <c:numCache>
                <c:formatCode>0.00%</c:formatCode>
                <c:ptCount val="3"/>
                <c:pt idx="0">
                  <c:v>5.0099999999999999E-2</c:v>
                </c:pt>
                <c:pt idx="1">
                  <c:v>5.4600000000000003E-2</c:v>
                </c:pt>
                <c:pt idx="2">
                  <c:v>5.6099999999999997E-2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8B7-483A-BF66-55F1A3959A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1436175"/>
        <c:axId val="101437615"/>
      </c:lineChart>
      <c:catAx>
        <c:axId val="101436175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437615"/>
        <c:crosses val="autoZero"/>
        <c:auto val="1"/>
        <c:lblAlgn val="ctr"/>
        <c:lblOffset val="100"/>
        <c:noMultiLvlLbl val="0"/>
      </c:catAx>
      <c:valAx>
        <c:axId val="101437615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4361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 dirty="0"/>
              <a:t>Solvency Ratios Comparison (2023–2025)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5520880011949734E-2"/>
          <c:y val="0.14808662688350396"/>
          <c:w val="0.92350867218833421"/>
          <c:h val="0.7215361321360254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India – D/E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0.51</c:v>
                </c:pt>
                <c:pt idx="1">
                  <c:v>0.47</c:v>
                </c:pt>
                <c:pt idx="2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C3-4545-8502-3C16F3B601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Ramco – D/E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100000"/>
                    <a:shade val="100000"/>
                    <a:satMod val="130000"/>
                  </a:schemeClr>
                </a:gs>
                <a:gs pos="100000">
                  <a:schemeClr val="accent2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0.65</c:v>
                </c:pt>
                <c:pt idx="1">
                  <c:v>0.68</c:v>
                </c:pt>
                <c:pt idx="2">
                  <c:v>0.62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5C3-4545-8502-3C16F3B601D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India – ICR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100000"/>
                    <a:shade val="100000"/>
                    <a:satMod val="130000"/>
                  </a:schemeClr>
                </a:gs>
                <a:gs pos="100000">
                  <a:schemeClr val="accent3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-0.56000000000000005</c:v>
                </c:pt>
                <c:pt idx="1">
                  <c:v>-0.08</c:v>
                </c:pt>
                <c:pt idx="2">
                  <c:v>0.36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5C3-4545-8502-3C16F3B601D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Ramco – ICR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100000"/>
                    <a:shade val="100000"/>
                    <a:satMod val="130000"/>
                  </a:schemeClr>
                </a:gs>
                <a:gs pos="100000">
                  <a:schemeClr val="accent4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2.96</c:v>
                </c:pt>
                <c:pt idx="1">
                  <c:v>2.31</c:v>
                </c:pt>
                <c:pt idx="2">
                  <c:v>2.02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5C3-4545-8502-3C16F3B601D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India – PR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tint val="100000"/>
                    <a:shade val="100000"/>
                    <a:satMod val="130000"/>
                  </a:schemeClr>
                </a:gs>
                <a:gs pos="100000">
                  <a:schemeClr val="accent5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0.5</c:v>
                </c:pt>
                <c:pt idx="1">
                  <c:v>0.52</c:v>
                </c:pt>
                <c:pt idx="2">
                  <c:v>0.74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5C3-4545-8502-3C16F3B601D3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Ramco – PR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tint val="100000"/>
                    <a:shade val="100000"/>
                    <a:satMod val="13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Sheet1!$G$2:$G$4</c:f>
              <c:numCache>
                <c:formatCode>General</c:formatCode>
                <c:ptCount val="3"/>
                <c:pt idx="0">
                  <c:v>0.47</c:v>
                </c:pt>
                <c:pt idx="1">
                  <c:v>0.44</c:v>
                </c:pt>
                <c:pt idx="2">
                  <c:v>0.46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5C3-4545-8502-3C16F3B601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13013647"/>
        <c:axId val="113013167"/>
      </c:barChart>
      <c:catAx>
        <c:axId val="1130136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013167"/>
        <c:crosses val="autoZero"/>
        <c:auto val="1"/>
        <c:lblAlgn val="ctr"/>
        <c:lblOffset val="100"/>
        <c:noMultiLvlLbl val="0"/>
      </c:catAx>
      <c:valAx>
        <c:axId val="1130131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0136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6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0240" y="371284"/>
            <a:ext cx="7772400" cy="1133221"/>
          </a:xfrm>
        </p:spPr>
        <p:txBody>
          <a:bodyPr/>
          <a:lstStyle/>
          <a:p>
            <a:r>
              <a:rPr b="1" dirty="0">
                <a:solidFill>
                  <a:schemeClr val="tx2">
                    <a:lumMod val="75000"/>
                  </a:schemeClr>
                </a:solidFill>
              </a:rPr>
              <a:t>Financial Ratio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7844" y="1321625"/>
            <a:ext cx="9336024" cy="673608"/>
          </a:xfrm>
        </p:spPr>
        <p:txBody>
          <a:bodyPr/>
          <a:lstStyle/>
          <a:p>
            <a:r>
              <a:rPr dirty="0"/>
              <a:t>India Cements vs Ramco Cements (FY 2023–2025)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BF7611-EA99-62B5-0D90-A890293C84AD}"/>
              </a:ext>
            </a:extLst>
          </p:cNvPr>
          <p:cNvSpPr txBox="1"/>
          <p:nvPr/>
        </p:nvSpPr>
        <p:spPr>
          <a:xfrm>
            <a:off x="3822192" y="4878326"/>
            <a:ext cx="43159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Prepared by: Akshay B Krishna</a:t>
            </a:r>
          </a:p>
          <a:p>
            <a:r>
              <a:rPr lang="en-IN" dirty="0"/>
              <a:t>		      12501922</a:t>
            </a:r>
          </a:p>
          <a:p>
            <a:r>
              <a:rPr lang="en-IN" dirty="0"/>
              <a:t>		       Mittal School of Business</a:t>
            </a:r>
          </a:p>
          <a:p>
            <a:r>
              <a:rPr lang="en-IN" dirty="0"/>
              <a:t>		       Lovely professional university</a:t>
            </a:r>
          </a:p>
        </p:txBody>
      </p:sp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:a16="http://schemas.microsoft.com/office/drawing/2014/main" id="{1184BE87-2164-F50B-2815-0894FEA04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167" y="2579839"/>
            <a:ext cx="1905000" cy="1243585"/>
          </a:xfrm>
          <a:prstGeom prst="rect">
            <a:avLst/>
          </a:prstGeom>
        </p:spPr>
      </p:pic>
      <p:pic>
        <p:nvPicPr>
          <p:cNvPr id="8" name="Picture 7" descr="A blue and white logo&#10;&#10;AI-generated content may be incorrect.">
            <a:extLst>
              <a:ext uri="{FF2B5EF4-FFF2-40B4-BE49-F238E27FC236}">
                <a16:creationId xmlns:a16="http://schemas.microsoft.com/office/drawing/2014/main" id="{EAC018D9-7E4B-5810-7F5C-E5DC274BA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9097" y="2278188"/>
            <a:ext cx="1905000" cy="16382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1832" y="87185"/>
            <a:ext cx="10433304" cy="744919"/>
          </a:xfrm>
        </p:spPr>
        <p:txBody>
          <a:bodyPr>
            <a:normAutofit/>
          </a:bodyPr>
          <a:lstStyle/>
          <a:p>
            <a:r>
              <a:rPr sz="2800" dirty="0"/>
              <a:t>Company Background &amp; Competitor Justification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28" y="832104"/>
            <a:ext cx="5440680" cy="1828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India Cements (Overview):</a:t>
            </a:r>
            <a:endParaRPr lang="en-US" sz="1600" dirty="0"/>
          </a:p>
          <a:p>
            <a:r>
              <a:rPr lang="en-US" sz="1600" dirty="0"/>
              <a:t>Established in 1946</a:t>
            </a:r>
          </a:p>
          <a:p>
            <a:r>
              <a:rPr lang="en-US" sz="1600" dirty="0"/>
              <a:t>One of South India’s largest cement manufacturers</a:t>
            </a:r>
          </a:p>
          <a:p>
            <a:r>
              <a:rPr lang="en-US" sz="1600" dirty="0"/>
              <a:t>Plants across Tamil Nadu, Andhra Pradesh, and Telangana</a:t>
            </a:r>
          </a:p>
          <a:p>
            <a:r>
              <a:rPr lang="en-US" sz="1600" dirty="0"/>
              <a:t>Facing profitability challenges in recent years</a:t>
            </a:r>
          </a:p>
          <a:p>
            <a:r>
              <a:rPr lang="en-US" sz="1600" dirty="0"/>
              <a:t>Moderate liquidity and improving debt position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35617D-F1E5-5B5D-A530-9DD779A6DBBE}"/>
              </a:ext>
            </a:extLst>
          </p:cNvPr>
          <p:cNvSpPr txBox="1"/>
          <p:nvPr/>
        </p:nvSpPr>
        <p:spPr>
          <a:xfrm>
            <a:off x="6775704" y="832104"/>
            <a:ext cx="33558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Why Ramco Cements as Competitor?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Operates in the same regional market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Similar cement and construction product portfolio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Competes for the same customer 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Stronger profitability and market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Ideal benchmark for financial comparison</a:t>
            </a:r>
          </a:p>
          <a:p>
            <a:endParaRPr lang="en-IN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D475BA6-D3B1-CDCB-40FB-4C8D5EEA10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098844"/>
              </p:ext>
            </p:extLst>
          </p:nvPr>
        </p:nvGraphicFramePr>
        <p:xfrm>
          <a:off x="2478024" y="3236976"/>
          <a:ext cx="6121400" cy="3003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5696">
                  <a:extLst>
                    <a:ext uri="{9D8B030D-6E8A-4147-A177-3AD203B41FA5}">
                      <a16:colId xmlns:a16="http://schemas.microsoft.com/office/drawing/2014/main" val="1059815587"/>
                    </a:ext>
                  </a:extLst>
                </a:gridCol>
                <a:gridCol w="609284">
                  <a:extLst>
                    <a:ext uri="{9D8B030D-6E8A-4147-A177-3AD203B41FA5}">
                      <a16:colId xmlns:a16="http://schemas.microsoft.com/office/drawing/2014/main" val="3377748126"/>
                    </a:ext>
                  </a:extLst>
                </a:gridCol>
                <a:gridCol w="609284">
                  <a:extLst>
                    <a:ext uri="{9D8B030D-6E8A-4147-A177-3AD203B41FA5}">
                      <a16:colId xmlns:a16="http://schemas.microsoft.com/office/drawing/2014/main" val="294937687"/>
                    </a:ext>
                  </a:extLst>
                </a:gridCol>
                <a:gridCol w="609284">
                  <a:extLst>
                    <a:ext uri="{9D8B030D-6E8A-4147-A177-3AD203B41FA5}">
                      <a16:colId xmlns:a16="http://schemas.microsoft.com/office/drawing/2014/main" val="229317041"/>
                    </a:ext>
                  </a:extLst>
                </a:gridCol>
                <a:gridCol w="609284">
                  <a:extLst>
                    <a:ext uri="{9D8B030D-6E8A-4147-A177-3AD203B41FA5}">
                      <a16:colId xmlns:a16="http://schemas.microsoft.com/office/drawing/2014/main" val="875392538"/>
                    </a:ext>
                  </a:extLst>
                </a:gridCol>
                <a:gridCol w="609284">
                  <a:extLst>
                    <a:ext uri="{9D8B030D-6E8A-4147-A177-3AD203B41FA5}">
                      <a16:colId xmlns:a16="http://schemas.microsoft.com/office/drawing/2014/main" val="37901150"/>
                    </a:ext>
                  </a:extLst>
                </a:gridCol>
                <a:gridCol w="609284">
                  <a:extLst>
                    <a:ext uri="{9D8B030D-6E8A-4147-A177-3AD203B41FA5}">
                      <a16:colId xmlns:a16="http://schemas.microsoft.com/office/drawing/2014/main" val="4186445662"/>
                    </a:ext>
                  </a:extLst>
                </a:gridCol>
              </a:tblGrid>
              <a:tr h="304800"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u="none" strike="noStrike">
                          <a:effectLst/>
                        </a:rPr>
                        <a:t>India Cements vs Ramco Cements – Financial Inputs (2023–2025)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643474"/>
                  </a:ext>
                </a:extLst>
              </a:tr>
              <a:tr h="30480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India Cements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Ramco Cements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689744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4356679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Revenue (₹ Cr)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5180.69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4784.12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4084.92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8100.41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9322.27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8495.1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9001890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Net Profit (₹ Cr)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-169.82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-215.76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-132.16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343.54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394.98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417.39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5566554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Current Assets (₹ Cr)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3426.86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2786.89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1710.51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1886.87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2249.96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2238.15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1620984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Inventories (₹ Cr)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784.66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630.51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556.2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883.61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983.48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1016.18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726626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Cash &amp; Equivalents (₹ Cr)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64.87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84.22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104.13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170.33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136.91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209.15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9700764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Current Liabilities (₹ Cr)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2826.55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2796.76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1250.48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3088.09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3971.43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4313.16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568637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Finance Cost (₹ Cr)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241.68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243.65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266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240.52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415.53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458.76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3938622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PBT (₹ Cr)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-377.77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-263.37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-171.34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473.69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543.47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465.74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8769124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Equity (₹ Cr)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5776.3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5574.72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10194.13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6861.06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7237.9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7441.65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047858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LT Borrowings (₹ Cr)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1801.24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1415.26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1066.36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3622.16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3927.21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3379.05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2883470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ST Borrowings (₹ Cr)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1138.29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1196.65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92.75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865.26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989.61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1273.05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9471711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Total Assets (₹ Cr)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11467.22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10700.63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13830.22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14594.74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16272.73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16329.5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119311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0744" y="0"/>
            <a:ext cx="8229600" cy="68548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2">
                    <a:lumMod val="50000"/>
                  </a:schemeClr>
                </a:solidFill>
              </a:rPr>
              <a:t>Liquidity Ratio Analysis(2023-2025)</a:t>
            </a:r>
            <a:endParaRPr sz="3200" b="1" dirty="0">
              <a:solidFill>
                <a:schemeClr val="tx2">
                  <a:lumMod val="50000"/>
                </a:schemeClr>
              </a:solidFill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F07C727-5DFD-F31D-4D10-99C0FB7050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0622879"/>
              </p:ext>
            </p:extLst>
          </p:nvPr>
        </p:nvGraphicFramePr>
        <p:xfrm>
          <a:off x="329184" y="694626"/>
          <a:ext cx="7379208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>
                  <a:extLst>
                    <a:ext uri="{9D8B030D-6E8A-4147-A177-3AD203B41FA5}">
                      <a16:colId xmlns:a16="http://schemas.microsoft.com/office/drawing/2014/main" val="2634812161"/>
                    </a:ext>
                  </a:extLst>
                </a:gridCol>
                <a:gridCol w="2798064">
                  <a:extLst>
                    <a:ext uri="{9D8B030D-6E8A-4147-A177-3AD203B41FA5}">
                      <a16:colId xmlns:a16="http://schemas.microsoft.com/office/drawing/2014/main" val="3256010033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306542041"/>
                    </a:ext>
                  </a:extLst>
                </a:gridCol>
              </a:tblGrid>
              <a:tr h="5243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India Cements (2023–2025)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Ramco Cements (2023–2025)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846257"/>
                  </a:ext>
                </a:extLst>
              </a:tr>
              <a:tr h="3037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Current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1.21 → 1.00 → 1.37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0.61 → 0.57 → 0.52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5185176"/>
                  </a:ext>
                </a:extLst>
              </a:tr>
              <a:tr h="3037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Quick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0.94 → 0.77 → 0.92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0.32 → 0.32 → 0.28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1002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Cash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0.02 → 0.03 → 0.08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0.05 → 0.03 → 0.04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0340096"/>
                  </a:ext>
                </a:extLst>
              </a:tr>
            </a:tbl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58FEAA6C-1C8B-4EB2-7D16-86DBAD21DF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7714104"/>
              </p:ext>
            </p:extLst>
          </p:nvPr>
        </p:nvGraphicFramePr>
        <p:xfrm>
          <a:off x="329184" y="2578926"/>
          <a:ext cx="7595657" cy="39956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F72D738-B5DB-C2D2-14D2-BD2E04C2AB90}"/>
              </a:ext>
            </a:extLst>
          </p:cNvPr>
          <p:cNvSpPr txBox="1"/>
          <p:nvPr/>
        </p:nvSpPr>
        <p:spPr>
          <a:xfrm>
            <a:off x="8202168" y="694626"/>
            <a:ext cx="3547872" cy="630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Interpretation: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/>
              <a:t>India Cements is becoming more capable of paying its short-term dues</a:t>
            </a:r>
            <a:br>
              <a:rPr lang="en-US" sz="1400" dirty="0"/>
            </a:br>
            <a:r>
              <a:rPr lang="en-US" sz="1400" dirty="0"/>
              <a:t>→ Because its Current and Cash Ratios improve in 2025, it means they are getting better at covering immediate expenses without stress.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/>
              <a:t>India’s Quick Ratio being higher means it has more readily available liquid assets</a:t>
            </a:r>
            <a:br>
              <a:rPr lang="en-US" sz="1400" dirty="0"/>
            </a:br>
            <a:r>
              <a:rPr lang="en-US" sz="1400" dirty="0"/>
              <a:t>→ They don’t have to depend heavily on selling inventory to pay bills.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/>
              <a:t>Ramco’s liquidity is falling over time</a:t>
            </a:r>
            <a:br>
              <a:rPr lang="en-US" sz="1400" dirty="0"/>
            </a:br>
            <a:r>
              <a:rPr lang="en-US" sz="1400" dirty="0"/>
              <a:t>→ Since all its ratios decline, it may struggle more to handle short-term payments unless it borrows or delays obligations.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/>
              <a:t>Ratios below 1 for Ramco signal risk</a:t>
            </a:r>
            <a:br>
              <a:rPr lang="en-US" sz="1400" dirty="0"/>
            </a:br>
            <a:r>
              <a:rPr lang="en-US" sz="1400" dirty="0"/>
              <a:t>→ It suggests that Ramco does not have enough current assets to cover current liabilities comfortably.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/>
              <a:t>Cash reserves are low in both companies</a:t>
            </a:r>
            <a:br>
              <a:rPr lang="en-US" sz="1400" dirty="0"/>
            </a:br>
            <a:r>
              <a:rPr lang="en-US" sz="1400" dirty="0"/>
              <a:t>→ But India shows improvement by 2025, meaning it will have a little more emergency liquidity compared to Ramco.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/>
              <a:t>Overall: India Cements is becoming safer in the short term, while Ramco is weakening</a:t>
            </a:r>
            <a:br>
              <a:rPr lang="en-US" sz="1400" dirty="0"/>
            </a:br>
            <a:r>
              <a:rPr lang="en-US" sz="1400" dirty="0"/>
              <a:t>→ Even though Ramco is more profitable, it may face liquidity pressure if immediate payments arise.</a:t>
            </a:r>
          </a:p>
          <a:p>
            <a:endParaRPr lang="en-IN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612" y="46038"/>
            <a:ext cx="8229600" cy="457199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solidFill>
                  <a:schemeClr val="tx2">
                    <a:lumMod val="75000"/>
                  </a:schemeClr>
                </a:solidFill>
              </a:rPr>
              <a:t>Profitability Ratio Analysis (2023–2025)</a:t>
            </a:r>
            <a:endParaRPr sz="3200" b="1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C46AFD1-83D0-119B-05AC-442760C56F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865098"/>
              </p:ext>
            </p:extLst>
          </p:nvPr>
        </p:nvGraphicFramePr>
        <p:xfrm>
          <a:off x="457200" y="1682495"/>
          <a:ext cx="8229600" cy="42062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CB4D980-A28E-8E26-72B7-59D7E94FFA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364265"/>
              </p:ext>
            </p:extLst>
          </p:nvPr>
        </p:nvGraphicFramePr>
        <p:xfrm>
          <a:off x="279399" y="567998"/>
          <a:ext cx="4292601" cy="736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5660">
                  <a:extLst>
                    <a:ext uri="{9D8B030D-6E8A-4147-A177-3AD203B41FA5}">
                      <a16:colId xmlns:a16="http://schemas.microsoft.com/office/drawing/2014/main" val="570771161"/>
                    </a:ext>
                  </a:extLst>
                </a:gridCol>
                <a:gridCol w="718627">
                  <a:extLst>
                    <a:ext uri="{9D8B030D-6E8A-4147-A177-3AD203B41FA5}">
                      <a16:colId xmlns:a16="http://schemas.microsoft.com/office/drawing/2014/main" val="1061158816"/>
                    </a:ext>
                  </a:extLst>
                </a:gridCol>
                <a:gridCol w="718627">
                  <a:extLst>
                    <a:ext uri="{9D8B030D-6E8A-4147-A177-3AD203B41FA5}">
                      <a16:colId xmlns:a16="http://schemas.microsoft.com/office/drawing/2014/main" val="1566792405"/>
                    </a:ext>
                  </a:extLst>
                </a:gridCol>
                <a:gridCol w="613229">
                  <a:extLst>
                    <a:ext uri="{9D8B030D-6E8A-4147-A177-3AD203B41FA5}">
                      <a16:colId xmlns:a16="http://schemas.microsoft.com/office/drawing/2014/main" val="3851881287"/>
                    </a:ext>
                  </a:extLst>
                </a:gridCol>
                <a:gridCol w="613229">
                  <a:extLst>
                    <a:ext uri="{9D8B030D-6E8A-4147-A177-3AD203B41FA5}">
                      <a16:colId xmlns:a16="http://schemas.microsoft.com/office/drawing/2014/main" val="1788423511"/>
                    </a:ext>
                  </a:extLst>
                </a:gridCol>
                <a:gridCol w="613229">
                  <a:extLst>
                    <a:ext uri="{9D8B030D-6E8A-4147-A177-3AD203B41FA5}">
                      <a16:colId xmlns:a16="http://schemas.microsoft.com/office/drawing/2014/main" val="1233425796"/>
                    </a:ext>
                  </a:extLst>
                </a:gridCol>
              </a:tblGrid>
              <a:tr h="184150">
                <a:tc grid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Net Profit Margin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90170"/>
                  </a:ext>
                </a:extLst>
              </a:tr>
              <a:tr h="184150"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India Cements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Ramco Cements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06199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6964515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-3.277941741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-4.5099203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-3.2353143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4.24102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4.236951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4.913303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5958892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9125933-5ED2-A476-F6E0-92285AF914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143085"/>
              </p:ext>
            </p:extLst>
          </p:nvPr>
        </p:nvGraphicFramePr>
        <p:xfrm>
          <a:off x="4572000" y="580987"/>
          <a:ext cx="4292601" cy="736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5660">
                  <a:extLst>
                    <a:ext uri="{9D8B030D-6E8A-4147-A177-3AD203B41FA5}">
                      <a16:colId xmlns:a16="http://schemas.microsoft.com/office/drawing/2014/main" val="2260459353"/>
                    </a:ext>
                  </a:extLst>
                </a:gridCol>
                <a:gridCol w="718627">
                  <a:extLst>
                    <a:ext uri="{9D8B030D-6E8A-4147-A177-3AD203B41FA5}">
                      <a16:colId xmlns:a16="http://schemas.microsoft.com/office/drawing/2014/main" val="2099049280"/>
                    </a:ext>
                  </a:extLst>
                </a:gridCol>
                <a:gridCol w="718627">
                  <a:extLst>
                    <a:ext uri="{9D8B030D-6E8A-4147-A177-3AD203B41FA5}">
                      <a16:colId xmlns:a16="http://schemas.microsoft.com/office/drawing/2014/main" val="3169398665"/>
                    </a:ext>
                  </a:extLst>
                </a:gridCol>
                <a:gridCol w="613229">
                  <a:extLst>
                    <a:ext uri="{9D8B030D-6E8A-4147-A177-3AD203B41FA5}">
                      <a16:colId xmlns:a16="http://schemas.microsoft.com/office/drawing/2014/main" val="3356664379"/>
                    </a:ext>
                  </a:extLst>
                </a:gridCol>
                <a:gridCol w="613229">
                  <a:extLst>
                    <a:ext uri="{9D8B030D-6E8A-4147-A177-3AD203B41FA5}">
                      <a16:colId xmlns:a16="http://schemas.microsoft.com/office/drawing/2014/main" val="195383258"/>
                    </a:ext>
                  </a:extLst>
                </a:gridCol>
                <a:gridCol w="613229">
                  <a:extLst>
                    <a:ext uri="{9D8B030D-6E8A-4147-A177-3AD203B41FA5}">
                      <a16:colId xmlns:a16="http://schemas.microsoft.com/office/drawing/2014/main" val="2688889467"/>
                    </a:ext>
                  </a:extLst>
                </a:gridCol>
              </a:tblGrid>
              <a:tr h="184150">
                <a:tc grid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Return on Equity (ROE)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408874"/>
                  </a:ext>
                </a:extLst>
              </a:tr>
              <a:tr h="184150"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India Cements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Ramco Cements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11453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3016368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-2.939944255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-3.8703289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-1.2964324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5.007098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5.457108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5.608837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0832621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A6CB00DB-CCC0-0659-D753-A76FFF9AAD33}"/>
              </a:ext>
            </a:extLst>
          </p:cNvPr>
          <p:cNvSpPr txBox="1"/>
          <p:nvPr/>
        </p:nvSpPr>
        <p:spPr>
          <a:xfrm>
            <a:off x="8988552" y="635851"/>
            <a:ext cx="2822067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✅ Interpretation: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Ramco Cements is consistently profitable</a:t>
            </a:r>
            <a:r>
              <a:rPr lang="en-US" sz="1200" dirty="0"/>
              <a:t>, while India Cements is running at a loss every year.</a:t>
            </a:r>
            <a:br>
              <a:rPr lang="en-US" sz="1200" dirty="0"/>
            </a:br>
            <a:r>
              <a:rPr lang="en-US" sz="1200" dirty="0"/>
              <a:t>→ This means Ramco is able to convert sales into profit, whereas India is struggling to manage costs and revenue.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India’s Net Profit Margin is negative in all three years</a:t>
            </a:r>
            <a:r>
              <a:rPr lang="en-US" sz="1200" dirty="0"/>
              <a:t>, showing it is not earning anything after expenses.</a:t>
            </a:r>
            <a:br>
              <a:rPr lang="en-US" sz="1200" dirty="0"/>
            </a:br>
            <a:r>
              <a:rPr lang="en-US" sz="1200" dirty="0"/>
              <a:t>→ This signals weak cost control or inability to price products profitably.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Ramco’s Net Profit Margin improves slightly by 2025</a:t>
            </a:r>
            <a:r>
              <a:rPr lang="en-US" sz="1200" dirty="0"/>
              <a:t>, which means it is becoming more efficient at converting revenue into earnings.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Return on Equity is negative for India</a:t>
            </a:r>
            <a:r>
              <a:rPr lang="en-US" sz="1200" dirty="0"/>
              <a:t>, meaning shareholders are not getting returns and capital is being eroded.</a:t>
            </a:r>
            <a:br>
              <a:rPr lang="en-US" sz="1200" dirty="0"/>
            </a:br>
            <a:r>
              <a:rPr lang="en-US" sz="1200" dirty="0"/>
              <a:t>→ Losses directly impact owners' value.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Ramco’s ROE is positive and rising</a:t>
            </a:r>
            <a:r>
              <a:rPr lang="en-US" sz="1200" dirty="0"/>
              <a:t>, which shows it is using investor funds efficiently to generate returns.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Overall, Ramco is financially healthier from a profitability standpoint</a:t>
            </a:r>
            <a:r>
              <a:rPr lang="en-US" sz="1200" dirty="0"/>
              <a:t>, while India needs to improve margins and reduce costs to become sustainable.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6038"/>
            <a:ext cx="8229600" cy="457199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solidFill>
                  <a:schemeClr val="tx2">
                    <a:lumMod val="75000"/>
                  </a:schemeClr>
                </a:solidFill>
              </a:rPr>
              <a:t>Solvency Ratios (2023–2025)</a:t>
            </a:r>
            <a:endParaRPr sz="3200" b="1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180FB46-2515-C455-5927-5B2E5DF172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0028517"/>
              </p:ext>
            </p:extLst>
          </p:nvPr>
        </p:nvGraphicFramePr>
        <p:xfrm>
          <a:off x="301752" y="2989770"/>
          <a:ext cx="7872984" cy="3776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0819CC9-58E2-A7C4-A790-4123AB54A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875287"/>
              </p:ext>
            </p:extLst>
          </p:nvPr>
        </p:nvGraphicFramePr>
        <p:xfrm>
          <a:off x="301752" y="1624908"/>
          <a:ext cx="8714231" cy="13648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42730">
                  <a:extLst>
                    <a:ext uri="{9D8B030D-6E8A-4147-A177-3AD203B41FA5}">
                      <a16:colId xmlns:a16="http://schemas.microsoft.com/office/drawing/2014/main" val="4093041135"/>
                    </a:ext>
                  </a:extLst>
                </a:gridCol>
                <a:gridCol w="1436560">
                  <a:extLst>
                    <a:ext uri="{9D8B030D-6E8A-4147-A177-3AD203B41FA5}">
                      <a16:colId xmlns:a16="http://schemas.microsoft.com/office/drawing/2014/main" val="3274278445"/>
                    </a:ext>
                  </a:extLst>
                </a:gridCol>
                <a:gridCol w="1016435">
                  <a:extLst>
                    <a:ext uri="{9D8B030D-6E8A-4147-A177-3AD203B41FA5}">
                      <a16:colId xmlns:a16="http://schemas.microsoft.com/office/drawing/2014/main" val="1351934777"/>
                    </a:ext>
                  </a:extLst>
                </a:gridCol>
                <a:gridCol w="1016435">
                  <a:extLst>
                    <a:ext uri="{9D8B030D-6E8A-4147-A177-3AD203B41FA5}">
                      <a16:colId xmlns:a16="http://schemas.microsoft.com/office/drawing/2014/main" val="3769551733"/>
                    </a:ext>
                  </a:extLst>
                </a:gridCol>
                <a:gridCol w="867357">
                  <a:extLst>
                    <a:ext uri="{9D8B030D-6E8A-4147-A177-3AD203B41FA5}">
                      <a16:colId xmlns:a16="http://schemas.microsoft.com/office/drawing/2014/main" val="3946740999"/>
                    </a:ext>
                  </a:extLst>
                </a:gridCol>
                <a:gridCol w="867357">
                  <a:extLst>
                    <a:ext uri="{9D8B030D-6E8A-4147-A177-3AD203B41FA5}">
                      <a16:colId xmlns:a16="http://schemas.microsoft.com/office/drawing/2014/main" val="2506732918"/>
                    </a:ext>
                  </a:extLst>
                </a:gridCol>
                <a:gridCol w="867357">
                  <a:extLst>
                    <a:ext uri="{9D8B030D-6E8A-4147-A177-3AD203B41FA5}">
                      <a16:colId xmlns:a16="http://schemas.microsoft.com/office/drawing/2014/main" val="2091032307"/>
                    </a:ext>
                  </a:extLst>
                </a:gridCol>
              </a:tblGrid>
              <a:tr h="222338"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Debt-to-Equity Ratio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097556"/>
                  </a:ext>
                </a:extLst>
              </a:tr>
              <a:tr h="235321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India Cements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Ramco Cements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645055"/>
                  </a:ext>
                </a:extLst>
              </a:tr>
              <a:tr h="23532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7162602"/>
                  </a:ext>
                </a:extLst>
              </a:tr>
              <a:tr h="4365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Total Debt = Long-Term Borrowings + Short-Term Borrowings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2939.53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2611.91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1159.11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4487.42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4916.82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4652.1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11320001"/>
                  </a:ext>
                </a:extLst>
              </a:tr>
              <a:tr h="235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Debt-to-Equity Ratio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0.508894967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0.4685276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0.1137037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0.654042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0.679316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0.625144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5240452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C170634-C2DF-0064-750D-C9EEFEE5F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936418"/>
              </p:ext>
            </p:extLst>
          </p:nvPr>
        </p:nvGraphicFramePr>
        <p:xfrm>
          <a:off x="301752" y="857467"/>
          <a:ext cx="4292601" cy="736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5660">
                  <a:extLst>
                    <a:ext uri="{9D8B030D-6E8A-4147-A177-3AD203B41FA5}">
                      <a16:colId xmlns:a16="http://schemas.microsoft.com/office/drawing/2014/main" val="2501106619"/>
                    </a:ext>
                  </a:extLst>
                </a:gridCol>
                <a:gridCol w="718627">
                  <a:extLst>
                    <a:ext uri="{9D8B030D-6E8A-4147-A177-3AD203B41FA5}">
                      <a16:colId xmlns:a16="http://schemas.microsoft.com/office/drawing/2014/main" val="1856126970"/>
                    </a:ext>
                  </a:extLst>
                </a:gridCol>
                <a:gridCol w="718627">
                  <a:extLst>
                    <a:ext uri="{9D8B030D-6E8A-4147-A177-3AD203B41FA5}">
                      <a16:colId xmlns:a16="http://schemas.microsoft.com/office/drawing/2014/main" val="3007919485"/>
                    </a:ext>
                  </a:extLst>
                </a:gridCol>
                <a:gridCol w="613229">
                  <a:extLst>
                    <a:ext uri="{9D8B030D-6E8A-4147-A177-3AD203B41FA5}">
                      <a16:colId xmlns:a16="http://schemas.microsoft.com/office/drawing/2014/main" val="3955773354"/>
                    </a:ext>
                  </a:extLst>
                </a:gridCol>
                <a:gridCol w="613229">
                  <a:extLst>
                    <a:ext uri="{9D8B030D-6E8A-4147-A177-3AD203B41FA5}">
                      <a16:colId xmlns:a16="http://schemas.microsoft.com/office/drawing/2014/main" val="2438440459"/>
                    </a:ext>
                  </a:extLst>
                </a:gridCol>
                <a:gridCol w="613229">
                  <a:extLst>
                    <a:ext uri="{9D8B030D-6E8A-4147-A177-3AD203B41FA5}">
                      <a16:colId xmlns:a16="http://schemas.microsoft.com/office/drawing/2014/main" val="378713089"/>
                    </a:ext>
                  </a:extLst>
                </a:gridCol>
              </a:tblGrid>
              <a:tr h="184150">
                <a:tc grid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Interest Coverage Ratio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764427"/>
                  </a:ext>
                </a:extLst>
              </a:tr>
              <a:tr h="184150"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India Cements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Ramco Cements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055262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5343744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-0.563099967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-0.0809358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0.3558647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2.969441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2.307896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2.015215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1049506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0A27E31-D0C3-0F15-75D3-8DDD5B629B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477744"/>
              </p:ext>
            </p:extLst>
          </p:nvPr>
        </p:nvGraphicFramePr>
        <p:xfrm>
          <a:off x="4723382" y="866294"/>
          <a:ext cx="4292601" cy="736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5660">
                  <a:extLst>
                    <a:ext uri="{9D8B030D-6E8A-4147-A177-3AD203B41FA5}">
                      <a16:colId xmlns:a16="http://schemas.microsoft.com/office/drawing/2014/main" val="2222249591"/>
                    </a:ext>
                  </a:extLst>
                </a:gridCol>
                <a:gridCol w="718627">
                  <a:extLst>
                    <a:ext uri="{9D8B030D-6E8A-4147-A177-3AD203B41FA5}">
                      <a16:colId xmlns:a16="http://schemas.microsoft.com/office/drawing/2014/main" val="2790637470"/>
                    </a:ext>
                  </a:extLst>
                </a:gridCol>
                <a:gridCol w="718627">
                  <a:extLst>
                    <a:ext uri="{9D8B030D-6E8A-4147-A177-3AD203B41FA5}">
                      <a16:colId xmlns:a16="http://schemas.microsoft.com/office/drawing/2014/main" val="476633137"/>
                    </a:ext>
                  </a:extLst>
                </a:gridCol>
                <a:gridCol w="613229">
                  <a:extLst>
                    <a:ext uri="{9D8B030D-6E8A-4147-A177-3AD203B41FA5}">
                      <a16:colId xmlns:a16="http://schemas.microsoft.com/office/drawing/2014/main" val="370540449"/>
                    </a:ext>
                  </a:extLst>
                </a:gridCol>
                <a:gridCol w="613229">
                  <a:extLst>
                    <a:ext uri="{9D8B030D-6E8A-4147-A177-3AD203B41FA5}">
                      <a16:colId xmlns:a16="http://schemas.microsoft.com/office/drawing/2014/main" val="2022930905"/>
                    </a:ext>
                  </a:extLst>
                </a:gridCol>
                <a:gridCol w="613229">
                  <a:extLst>
                    <a:ext uri="{9D8B030D-6E8A-4147-A177-3AD203B41FA5}">
                      <a16:colId xmlns:a16="http://schemas.microsoft.com/office/drawing/2014/main" val="675159516"/>
                    </a:ext>
                  </a:extLst>
                </a:gridCol>
              </a:tblGrid>
              <a:tr h="184150">
                <a:tc grid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Proprietary Ratio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816736"/>
                  </a:ext>
                </a:extLst>
              </a:tr>
              <a:tr h="184150"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India Cements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Ramco Cements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16974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Mar-25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645632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0.503722785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0.5209712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0.737091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0.470105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0.444787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0.455718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353866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31C05FF-592F-A167-312F-67200E2EF4DC}"/>
              </a:ext>
            </a:extLst>
          </p:cNvPr>
          <p:cNvSpPr txBox="1"/>
          <p:nvPr/>
        </p:nvSpPr>
        <p:spPr>
          <a:xfrm>
            <a:off x="9226296" y="731520"/>
            <a:ext cx="282549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✅ Interpretation: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/>
              <a:t>India Cements had negative Interest Coverage in 2023 and 2024</a:t>
            </a:r>
            <a:r>
              <a:rPr lang="en-US" sz="1400" dirty="0"/>
              <a:t>, which means it wasn’t earning enough profit to even cover interest payments.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By 2025, India turns positive, showing slight improvement in its ability to service debt without additional borrowing.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/>
              <a:t>Ramco Cements consistently maintains a strong and positive Interest Coverage Ratio</a:t>
            </a:r>
            <a:r>
              <a:rPr lang="en-US" sz="1400" dirty="0"/>
              <a:t>, meaning its profits are comfortably higher than its interest expenses.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A higher ICR for Ramco indicates lower financial risk and better creditworthiness.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India’s improvement signals debt reduction and better earnings, but it still lags behind Ramco in stability.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/>
              <a:t>Overall, Ramco is in a much safer long-term financial position</a:t>
            </a:r>
            <a:r>
              <a:rPr lang="en-US" sz="1400" dirty="0"/>
              <a:t>, while India is only now recovering from interest burden stress.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2768" y="46038"/>
            <a:ext cx="8229600" cy="457199"/>
          </a:xfrm>
        </p:spPr>
        <p:txBody>
          <a:bodyPr>
            <a:normAutofit fontScale="90000"/>
          </a:bodyPr>
          <a:lstStyle/>
          <a:p>
            <a:r>
              <a:rPr lang="en-IN" sz="2400" b="1" dirty="0">
                <a:solidFill>
                  <a:schemeClr val="tx2">
                    <a:lumMod val="75000"/>
                  </a:schemeClr>
                </a:solidFill>
              </a:rPr>
              <a:t>Conclusion &amp; Strategies for Improvement</a:t>
            </a:r>
            <a:endParaRPr sz="24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BA89BC-A65F-C40A-4A7A-C4A5C28DE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28" y="786384"/>
            <a:ext cx="562356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✅ Conclusion :</a:t>
            </a:r>
          </a:p>
          <a:p>
            <a:pPr marL="0" indent="0">
              <a:buNone/>
            </a:pPr>
            <a:r>
              <a:rPr lang="en-US" sz="1600" b="1" dirty="0"/>
              <a:t>🔹 Liquidity Ratios (Current, Quick, Cash):</a:t>
            </a:r>
            <a:endParaRPr lang="en-US" sz="1600" dirty="0"/>
          </a:p>
          <a:p>
            <a:r>
              <a:rPr lang="en-US" sz="1600" dirty="0"/>
              <a:t>India Cements shows improving liquidity, meaning it is becoming better at meeting short-term obligations.</a:t>
            </a:r>
          </a:p>
          <a:p>
            <a:r>
              <a:rPr lang="en-US" sz="1600" dirty="0"/>
              <a:t>Ramco’s liquidity is declining, indicating rising pressure in managing current liabilities.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🔹 Profitability Ratios (Net Profit Margin &amp; ROE):</a:t>
            </a:r>
            <a:endParaRPr lang="en-US" sz="1600" dirty="0"/>
          </a:p>
          <a:p>
            <a:r>
              <a:rPr lang="en-US" sz="1600" dirty="0"/>
              <a:t>India Cements remains unprofitable, showing negative returns.</a:t>
            </a:r>
          </a:p>
          <a:p>
            <a:r>
              <a:rPr lang="en-US" sz="1600" dirty="0"/>
              <a:t>Ramco is consistently profitable and improving its returns.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🔹 Interest Coverage Ratio:</a:t>
            </a:r>
            <a:endParaRPr lang="en-US" sz="1600" dirty="0"/>
          </a:p>
          <a:p>
            <a:r>
              <a:rPr lang="en-US" sz="1600" dirty="0"/>
              <a:t>India struggled to cover interest costs earlier but shows slight recovery in 2025.</a:t>
            </a:r>
          </a:p>
          <a:p>
            <a:r>
              <a:rPr lang="en-US" sz="1600" dirty="0"/>
              <a:t>Ramco comfortably covers its finance costs every year.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🔹 Debt-Equity &amp; Proprietary Ratio:</a:t>
            </a:r>
            <a:endParaRPr lang="en-US" sz="1600" dirty="0"/>
          </a:p>
          <a:p>
            <a:r>
              <a:rPr lang="en-US" sz="1600" dirty="0"/>
              <a:t>India is reducing debt and strengthening its capital base.</a:t>
            </a:r>
          </a:p>
          <a:p>
            <a:r>
              <a:rPr lang="en-US" sz="1600" dirty="0"/>
              <a:t>Ramco relies more on borrowings but remains stable due to strong earnings.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86032-8EAE-5FEF-A81E-B5CC8EAFA1FE}"/>
              </a:ext>
            </a:extLst>
          </p:cNvPr>
          <p:cNvSpPr txBox="1"/>
          <p:nvPr/>
        </p:nvSpPr>
        <p:spPr>
          <a:xfrm>
            <a:off x="7104888" y="969264"/>
            <a:ext cx="460209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✅ Strategies for Improvement:</a:t>
            </a:r>
          </a:p>
          <a:p>
            <a:endParaRPr lang="en-US" sz="1600" b="1" dirty="0"/>
          </a:p>
          <a:p>
            <a:r>
              <a:rPr lang="en-US" sz="1600" b="1" dirty="0"/>
              <a:t>For India Cements: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Improve profit margins by controlling costs and optimizing production.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Maintain debt reduction and restructure high-interest borrowings.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Strengthen cash flow through better receivables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Monetize idle assets or non-core assets to improve reserves.</a:t>
            </a:r>
          </a:p>
          <a:p>
            <a:endParaRPr lang="en-US" sz="1600" b="1" dirty="0"/>
          </a:p>
          <a:p>
            <a:r>
              <a:rPr lang="en-US" sz="1600" b="1" dirty="0"/>
              <a:t>For Ramco Cements: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Improve cash reserves to reduce liquidity pressure.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Reduce reliance on short-term liabilities and borrowings.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Focus on working capital efficiency to stabilize current ratio.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Avoid over-leverage despite profitability strength.</a:t>
            </a:r>
          </a:p>
          <a:p>
            <a:endParaRPr lang="en-IN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463</TotalTime>
  <Words>1173</Words>
  <Application>Microsoft Office PowerPoint</Application>
  <PresentationFormat>Custom</PresentationFormat>
  <Paragraphs>264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Financial Ratio Analysis</vt:lpstr>
      <vt:lpstr>Company Background &amp; Competitor Justification</vt:lpstr>
      <vt:lpstr>Liquidity Ratio Analysis(2023-2025)</vt:lpstr>
      <vt:lpstr>Profitability Ratio Analysis (2023–2025)</vt:lpstr>
      <vt:lpstr>Solvency Ratios (2023–2025)</vt:lpstr>
      <vt:lpstr>Conclusion &amp; Strategies for Improvement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Akshay Krishna</dc:creator>
  <cp:keywords/>
  <dc:description>generated using python-pptx</dc:description>
  <cp:lastModifiedBy>Akshay Krishna</cp:lastModifiedBy>
  <cp:revision>3</cp:revision>
  <dcterms:created xsi:type="dcterms:W3CDTF">2013-01-27T09:14:16Z</dcterms:created>
  <dcterms:modified xsi:type="dcterms:W3CDTF">2025-09-28T20:47:06Z</dcterms:modified>
  <cp:category/>
</cp:coreProperties>
</file>